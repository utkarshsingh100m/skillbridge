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" pitchFamily="2" charset="77"/>
      <p:regular r:id="rId12"/>
      <p:bold r:id="rId13"/>
      <p:italic r:id="rId14"/>
      <p:boldItalic r:id="rId15"/>
    </p:embeddedFont>
    <p:embeddedFont>
      <p:font typeface="Montserrat SemiBold" panose="00000700000000000000" pitchFamily="2" charset="77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1"/>
  </p:normalViewPr>
  <p:slideViewPr>
    <p:cSldViewPr snapToGrid="0">
      <p:cViewPr varScale="1">
        <p:scale>
          <a:sx n="73" d="100"/>
          <a:sy n="73" d="100"/>
        </p:scale>
        <p:origin x="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Opening: SkillBridge connects students with projects, teammates and mentors using explainable AI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framing based on the team’s project hypothesis. No adoption metrics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SkillBridge supports students, project creators and mentors. The creator retains final control over every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MVP uses a transparent rules-based score. Semantic similarity can enrich related-skill matching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Stack choices are implementation recommendations. GitHub access remains optional and consent-based.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Innovation comes from combining role-gap detection, explainable matching and campus-specific collaboration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competitor performance claims are made. Validation metrics are proposed for a future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prototype match scores and profiles are illustrative. Replace placeholders with your project links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Closing line: SkillBridge turns scattered campus talent into teams that can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>
            <a:extLst>
              <a:ext uri="{FF2B5EF4-FFF2-40B4-BE49-F238E27FC236}">
                <a16:creationId xmlns:a16="http://schemas.microsoft.com/office/drawing/2014/main" id="{E819BB98-EA71-4960-AB25-5A4CECAD23E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>
            <a:extLst>
              <a:ext uri="{FF2B5EF4-FFF2-40B4-BE49-F238E27FC236}">
                <a16:creationId xmlns:a16="http://schemas.microsoft.com/office/drawing/2014/main" id="{EC377BE4-CE16-4B1A-8427-DAF46409CB8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>
            <a:extLst>
              <a:ext uri="{FF2B5EF4-FFF2-40B4-BE49-F238E27FC236}">
                <a16:creationId xmlns:a16="http://schemas.microsoft.com/office/drawing/2014/main" id="{2BE1B64D-0648-4C95-A2C4-E6883BCC32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>
            <a:extLst>
              <a:ext uri="{FF2B5EF4-FFF2-40B4-BE49-F238E27FC236}">
                <a16:creationId xmlns:a16="http://schemas.microsoft.com/office/drawing/2014/main" id="{819031D5-D6DF-4ADB-A4CB-04D42F7D4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>
            <a:extLst>
              <a:ext uri="{FF2B5EF4-FFF2-40B4-BE49-F238E27FC236}">
                <a16:creationId xmlns:a16="http://schemas.microsoft.com/office/drawing/2014/main" id="{FA9FD331-937D-42A6-8F52-A14002BBC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>
            <a:extLst>
              <a:ext uri="{FF2B5EF4-FFF2-40B4-BE49-F238E27FC236}">
                <a16:creationId xmlns:a16="http://schemas.microsoft.com/office/drawing/2014/main" id="{9E0BDB29-668A-4829-8E49-C6BEA2BC6B6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>
            <a:extLst>
              <a:ext uri="{FF2B5EF4-FFF2-40B4-BE49-F238E27FC236}">
                <a16:creationId xmlns:a16="http://schemas.microsoft.com/office/drawing/2014/main" id="{5C255CC5-1827-4A14-AB8E-AEA4AC35DF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>
            <a:extLst>
              <a:ext uri="{FF2B5EF4-FFF2-40B4-BE49-F238E27FC236}">
                <a16:creationId xmlns:a16="http://schemas.microsoft.com/office/drawing/2014/main" id="{E12D94F2-4547-41FB-B7C4-B573BD71EE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>
            <a:extLst>
              <a:ext uri="{FF2B5EF4-FFF2-40B4-BE49-F238E27FC236}">
                <a16:creationId xmlns:a16="http://schemas.microsoft.com/office/drawing/2014/main" id="{83AFAC60-D03A-4B73-AD53-88DBD66F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>
            <a:extLst>
              <a:ext uri="{FF2B5EF4-FFF2-40B4-BE49-F238E27FC236}">
                <a16:creationId xmlns:a16="http://schemas.microsoft.com/office/drawing/2014/main" id="{171D3715-5DF5-4A44-A2C1-11EAA9C9F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>
            <a:extLst>
              <a:ext uri="{FF2B5EF4-FFF2-40B4-BE49-F238E27FC236}">
                <a16:creationId xmlns:a16="http://schemas.microsoft.com/office/drawing/2014/main" id="{97CC276D-333C-4101-85AE-13DE0A2250B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>
            <a:extLst>
              <a:ext uri="{FF2B5EF4-FFF2-40B4-BE49-F238E27FC236}">
                <a16:creationId xmlns:a16="http://schemas.microsoft.com/office/drawing/2014/main" id="{3C9C51DB-FEBF-48FA-A476-9DB38206201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>
            <a:extLst>
              <a:ext uri="{FF2B5EF4-FFF2-40B4-BE49-F238E27FC236}">
                <a16:creationId xmlns:a16="http://schemas.microsoft.com/office/drawing/2014/main" id="{C6E2DDB4-F715-4FFC-859F-31B0C91E61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>
            <a:extLst>
              <a:ext uri="{FF2B5EF4-FFF2-40B4-BE49-F238E27FC236}">
                <a16:creationId xmlns:a16="http://schemas.microsoft.com/office/drawing/2014/main" id="{CC6D679A-161D-4E63-B15A-A06B11BB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>
            <a:extLst>
              <a:ext uri="{FF2B5EF4-FFF2-40B4-BE49-F238E27FC236}">
                <a16:creationId xmlns:a16="http://schemas.microsoft.com/office/drawing/2014/main" id="{D11AACCF-2C6F-4BE0-B4A0-53EE37EEE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>
            <a:extLst>
              <a:ext uri="{FF2B5EF4-FFF2-40B4-BE49-F238E27FC236}">
                <a16:creationId xmlns:a16="http://schemas.microsoft.com/office/drawing/2014/main" id="{F4918653-24DE-4D67-A25B-FD5D3127A2B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>
            <a:extLst>
              <a:ext uri="{FF2B5EF4-FFF2-40B4-BE49-F238E27FC236}">
                <a16:creationId xmlns:a16="http://schemas.microsoft.com/office/drawing/2014/main" id="{7A706A12-B49D-4286-A4FA-F4C69C7493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>
            <a:extLst>
              <a:ext uri="{FF2B5EF4-FFF2-40B4-BE49-F238E27FC236}">
                <a16:creationId xmlns:a16="http://schemas.microsoft.com/office/drawing/2014/main" id="{D69F6863-AB8A-454A-B329-0202E3D806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>
            <a:extLst>
              <a:ext uri="{FF2B5EF4-FFF2-40B4-BE49-F238E27FC236}">
                <a16:creationId xmlns:a16="http://schemas.microsoft.com/office/drawing/2014/main" id="{F6A9A560-E653-43D6-A85B-499F6B26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>
            <a:extLst>
              <a:ext uri="{FF2B5EF4-FFF2-40B4-BE49-F238E27FC236}">
                <a16:creationId xmlns:a16="http://schemas.microsoft.com/office/drawing/2014/main" id="{65190271-C644-4B83-A192-37C458F6E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>
            <a:extLst>
              <a:ext uri="{FF2B5EF4-FFF2-40B4-BE49-F238E27FC236}">
                <a16:creationId xmlns:a16="http://schemas.microsoft.com/office/drawing/2014/main" id="{7BC28B0E-D744-4496-9DE6-BF20F56997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>
            <a:extLst>
              <a:ext uri="{FF2B5EF4-FFF2-40B4-BE49-F238E27FC236}">
                <a16:creationId xmlns:a16="http://schemas.microsoft.com/office/drawing/2014/main" id="{2E627240-DE6D-4E33-9074-8A0549237D5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>
            <a:extLst>
              <a:ext uri="{FF2B5EF4-FFF2-40B4-BE49-F238E27FC236}">
                <a16:creationId xmlns:a16="http://schemas.microsoft.com/office/drawing/2014/main" id="{681C758F-D81B-431B-BC6A-5624F01594D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>
            <a:extLst>
              <a:ext uri="{FF2B5EF4-FFF2-40B4-BE49-F238E27FC236}">
                <a16:creationId xmlns:a16="http://schemas.microsoft.com/office/drawing/2014/main" id="{9AFC5374-804B-4ABD-B7F7-9C871DA867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>
            <a:extLst>
              <a:ext uri="{FF2B5EF4-FFF2-40B4-BE49-F238E27FC236}">
                <a16:creationId xmlns:a16="http://schemas.microsoft.com/office/drawing/2014/main" id="{F981E774-1987-41E5-946C-54A02CA6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>
            <a:extLst>
              <a:ext uri="{FF2B5EF4-FFF2-40B4-BE49-F238E27FC236}">
                <a16:creationId xmlns:a16="http://schemas.microsoft.com/office/drawing/2014/main" id="{B6C50FED-8838-482C-9165-F32A35089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>
            <a:extLst>
              <a:ext uri="{FF2B5EF4-FFF2-40B4-BE49-F238E27FC236}">
                <a16:creationId xmlns:a16="http://schemas.microsoft.com/office/drawing/2014/main" id="{FE8CD38A-78B7-4EF5-8084-D687F6B9F76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>
            <a:extLst>
              <a:ext uri="{FF2B5EF4-FFF2-40B4-BE49-F238E27FC236}">
                <a16:creationId xmlns:a16="http://schemas.microsoft.com/office/drawing/2014/main" id="{C143DF4D-F263-4338-8714-2D7669FAEB4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>
            <a:extLst>
              <a:ext uri="{FF2B5EF4-FFF2-40B4-BE49-F238E27FC236}">
                <a16:creationId xmlns:a16="http://schemas.microsoft.com/office/drawing/2014/main" id="{E34956D1-418D-4A0E-86FE-4E72C6879C6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>
            <a:extLst>
              <a:ext uri="{FF2B5EF4-FFF2-40B4-BE49-F238E27FC236}">
                <a16:creationId xmlns:a16="http://schemas.microsoft.com/office/drawing/2014/main" id="{5D90F7AC-BFDC-4ACF-97E4-072D7B87337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>
            <a:extLst>
              <a:ext uri="{FF2B5EF4-FFF2-40B4-BE49-F238E27FC236}">
                <a16:creationId xmlns:a16="http://schemas.microsoft.com/office/drawing/2014/main" id="{63B62D53-E6E8-48F7-945D-0B601EB2EF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>
            <a:extLst>
              <a:ext uri="{FF2B5EF4-FFF2-40B4-BE49-F238E27FC236}">
                <a16:creationId xmlns:a16="http://schemas.microsoft.com/office/drawing/2014/main" id="{86F98DEE-BDC4-4299-B8B1-FC77226C19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>
            <a:extLst>
              <a:ext uri="{FF2B5EF4-FFF2-40B4-BE49-F238E27FC236}">
                <a16:creationId xmlns:a16="http://schemas.microsoft.com/office/drawing/2014/main" id="{5E8EA634-04AD-4A2E-B3CD-A22EB6D8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>
            <a:extLst>
              <a:ext uri="{FF2B5EF4-FFF2-40B4-BE49-F238E27FC236}">
                <a16:creationId xmlns:a16="http://schemas.microsoft.com/office/drawing/2014/main" id="{2E05ABCF-D1D2-4B2B-81A0-FF570E2E56D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>
            <a:extLst>
              <a:ext uri="{FF2B5EF4-FFF2-40B4-BE49-F238E27FC236}">
                <a16:creationId xmlns:a16="http://schemas.microsoft.com/office/drawing/2014/main" id="{F6732B07-A9A1-49B1-9CD7-08FD4C00A22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>
            <a:extLst>
              <a:ext uri="{FF2B5EF4-FFF2-40B4-BE49-F238E27FC236}">
                <a16:creationId xmlns:a16="http://schemas.microsoft.com/office/drawing/2014/main" id="{4A7958DF-4216-42F3-9F3A-68FA40E16D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>
            <a:extLst>
              <a:ext uri="{FF2B5EF4-FFF2-40B4-BE49-F238E27FC236}">
                <a16:creationId xmlns:a16="http://schemas.microsoft.com/office/drawing/2014/main" id="{9289AA7B-1D27-4BEF-8617-16B7BD51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>
            <a:extLst>
              <a:ext uri="{FF2B5EF4-FFF2-40B4-BE49-F238E27FC236}">
                <a16:creationId xmlns:a16="http://schemas.microsoft.com/office/drawing/2014/main" id="{14765A7A-ADE8-4759-9D80-223F22F84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>
            <a:extLst>
              <a:ext uri="{FF2B5EF4-FFF2-40B4-BE49-F238E27FC236}">
                <a16:creationId xmlns:a16="http://schemas.microsoft.com/office/drawing/2014/main" id="{E71DADC5-A352-4A74-8A73-E2C657AE9C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>
            <a:extLst>
              <a:ext uri="{FF2B5EF4-FFF2-40B4-BE49-F238E27FC236}">
                <a16:creationId xmlns:a16="http://schemas.microsoft.com/office/drawing/2014/main" id="{ECFC89C2-06B4-40E9-82FE-F853F8D5688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>
            <a:extLst>
              <a:ext uri="{FF2B5EF4-FFF2-40B4-BE49-F238E27FC236}">
                <a16:creationId xmlns:a16="http://schemas.microsoft.com/office/drawing/2014/main" id="{EC96168C-63E3-4A5B-A5E1-DA6F478BC65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>
            <a:extLst>
              <a:ext uri="{FF2B5EF4-FFF2-40B4-BE49-F238E27FC236}">
                <a16:creationId xmlns:a16="http://schemas.microsoft.com/office/drawing/2014/main" id="{31CB5BE0-A17A-4D0E-BB9B-AE3FDB935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>
            <a:extLst>
              <a:ext uri="{FF2B5EF4-FFF2-40B4-BE49-F238E27FC236}">
                <a16:creationId xmlns:a16="http://schemas.microsoft.com/office/drawing/2014/main" id="{39402BB6-CC21-4151-9BFC-8D1F5728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>
            <a:extLst>
              <a:ext uri="{FF2B5EF4-FFF2-40B4-BE49-F238E27FC236}">
                <a16:creationId xmlns:a16="http://schemas.microsoft.com/office/drawing/2014/main" id="{E9AEE3C8-A2EC-4C82-9011-3F061A929B5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>
            <a:extLst>
              <a:ext uri="{FF2B5EF4-FFF2-40B4-BE49-F238E27FC236}">
                <a16:creationId xmlns:a16="http://schemas.microsoft.com/office/drawing/2014/main" id="{4D3F3B06-6AE2-46A1-A55B-587644C1F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>
            <a:extLst>
              <a:ext uri="{FF2B5EF4-FFF2-40B4-BE49-F238E27FC236}">
                <a16:creationId xmlns:a16="http://schemas.microsoft.com/office/drawing/2014/main" id="{44F38E41-551E-431E-8B2B-465A4FAF08E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>
            <a:extLst>
              <a:ext uri="{FF2B5EF4-FFF2-40B4-BE49-F238E27FC236}">
                <a16:creationId xmlns:a16="http://schemas.microsoft.com/office/drawing/2014/main" id="{00385F3C-C447-40C9-B349-443A027EB2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>
            <a:extLst>
              <a:ext uri="{FF2B5EF4-FFF2-40B4-BE49-F238E27FC236}">
                <a16:creationId xmlns:a16="http://schemas.microsoft.com/office/drawing/2014/main" id="{5900BA06-C3C1-484F-9B1A-448AF8B001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>
            <a:extLst>
              <a:ext uri="{FF2B5EF4-FFF2-40B4-BE49-F238E27FC236}">
                <a16:creationId xmlns:a16="http://schemas.microsoft.com/office/drawing/2014/main" id="{70BE3963-533C-4DE1-880A-EE4CE4F7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>
            <a:extLst>
              <a:ext uri="{FF2B5EF4-FFF2-40B4-BE49-F238E27FC236}">
                <a16:creationId xmlns:a16="http://schemas.microsoft.com/office/drawing/2014/main" id="{6CD11B58-9017-4A3A-AEED-2F73ADA4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>
            <a:extLst>
              <a:ext uri="{FF2B5EF4-FFF2-40B4-BE49-F238E27FC236}">
                <a16:creationId xmlns:a16="http://schemas.microsoft.com/office/drawing/2014/main" id="{A478150C-D54A-4E46-86E0-99C11F9469E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>
            <a:extLst>
              <a:ext uri="{FF2B5EF4-FFF2-40B4-BE49-F238E27FC236}">
                <a16:creationId xmlns:a16="http://schemas.microsoft.com/office/drawing/2014/main" id="{69919B7D-CC98-48EF-B28E-FA325383BD3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>
            <a:extLst>
              <a:ext uri="{FF2B5EF4-FFF2-40B4-BE49-F238E27FC236}">
                <a16:creationId xmlns:a16="http://schemas.microsoft.com/office/drawing/2014/main" id="{E5178B4E-C713-4502-8736-DC29FE926E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>
            <a:extLst>
              <a:ext uri="{FF2B5EF4-FFF2-40B4-BE49-F238E27FC236}">
                <a16:creationId xmlns:a16="http://schemas.microsoft.com/office/drawing/2014/main" id="{C381D239-0F1E-4E02-8C20-8FAF4559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>
            <a:extLst>
              <a:ext uri="{FF2B5EF4-FFF2-40B4-BE49-F238E27FC236}">
                <a16:creationId xmlns:a16="http://schemas.microsoft.com/office/drawing/2014/main" id="{B441D834-82BC-45AA-9928-E94EB5556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>
            <a:extLst>
              <a:ext uri="{FF2B5EF4-FFF2-40B4-BE49-F238E27FC236}">
                <a16:creationId xmlns:a16="http://schemas.microsoft.com/office/drawing/2014/main" id="{D7D53E6E-3F27-4BCD-8921-9DFE651F235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>
            <a:extLst>
              <a:ext uri="{FF2B5EF4-FFF2-40B4-BE49-F238E27FC236}">
                <a16:creationId xmlns:a16="http://schemas.microsoft.com/office/drawing/2014/main" id="{44CE6F98-AB4B-4BA4-81D4-79404C1D001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>
            <a:extLst>
              <a:ext uri="{FF2B5EF4-FFF2-40B4-BE49-F238E27FC236}">
                <a16:creationId xmlns:a16="http://schemas.microsoft.com/office/drawing/2014/main" id="{B2836800-371B-4573-9153-21954BFD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>
            <a:extLst>
              <a:ext uri="{FF2B5EF4-FFF2-40B4-BE49-F238E27FC236}">
                <a16:creationId xmlns:a16="http://schemas.microsoft.com/office/drawing/2014/main" id="{3E0A9D7B-87BC-461A-9558-8F69280E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>
            <a:extLst>
              <a:ext uri="{FF2B5EF4-FFF2-40B4-BE49-F238E27FC236}">
                <a16:creationId xmlns:a16="http://schemas.microsoft.com/office/drawing/2014/main" id="{A578E199-3314-46CB-917F-6BA9DEBF7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10">
            <a:extLst>
              <a:ext uri="{FF2B5EF4-FFF2-40B4-BE49-F238E27FC236}">
                <a16:creationId xmlns:a16="http://schemas.microsoft.com/office/drawing/2014/main" id="{2337A9E8-7D49-4B0F-9E1D-3363553B455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10">
            <a:extLst>
              <a:ext uri="{FF2B5EF4-FFF2-40B4-BE49-F238E27FC236}">
                <a16:creationId xmlns:a16="http://schemas.microsoft.com/office/drawing/2014/main" id="{F1BCBF07-76B3-4B55-B181-04577EA24A4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10">
            <a:extLst>
              <a:ext uri="{FF2B5EF4-FFF2-40B4-BE49-F238E27FC236}">
                <a16:creationId xmlns:a16="http://schemas.microsoft.com/office/drawing/2014/main" id="{00C0DBD6-9773-4AB6-A209-D11D4F5BFE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84;p1"/>
          <p:cNvCxnSpPr/>
          <p:nvPr/>
        </p:nvCxnSpPr>
        <p:spPr>
          <a:xfrm>
            <a:off x="1145912" y="6566577"/>
            <a:ext cx="991268" cy="0"/>
          </a:xfrm>
          <a:prstGeom prst="straightConnector1">
            <a:avLst/>
          </a:prstGeom>
          <a:ln w="9525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4C5500B-EA15-49E7-86F7-DF9592AE72E3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cxnSp>
        <p:nvCxnSpPr>
          <p:cNvPr id="121" name="Google Shape;87;p1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F377B465-00DE-45F3-B7AA-9D5E891CBE37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9893703C-64A0-474A-8831-1AAF68EBFA1F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C1D50730-CAA3-4736-81FB-8BF1BB2E8A20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375" cy="28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</a:t>
            </a:r>
            <a:r>
              <a:rPr sz="1877" b="1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4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.0</a:t>
            </a:r>
            <a:endParaRPr/>
          </a:p>
        </p:txBody>
      </p:sp>
      <p:cxnSp>
        <p:nvCxnSpPr>
          <p:cNvPr id="125" name="Google Shape;92;p1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94;p1"/>
          <p:cNvCxnSpPr/>
          <p:nvPr/>
        </p:nvCxnSpPr>
        <p:spPr>
          <a:xfrm>
            <a:off x="6062222" y="3795549"/>
            <a:ext cx="1966218" cy="0"/>
          </a:xfrm>
          <a:prstGeom prst="straightConnector1">
            <a:avLst/>
          </a:prstGeom>
          <a:ln w="536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">
            <a:extLst>
              <a:ext uri="{FF2B5EF4-FFF2-40B4-BE49-F238E27FC236}">
                <a16:creationId xmlns:a16="http://schemas.microsoft.com/office/drawing/2014/main" id="{0FCF5F35-C427-4E29-A3B4-AF366844C116}"/>
              </a:ext>
            </a:extLst>
          </p:cNvPr>
          <p:cNvSpPr>
            <a:spLocks noGrp="1"/>
          </p:cNvSpPr>
          <p:nvPr/>
        </p:nvSpPr>
        <p:spPr>
          <a:xfrm>
            <a:off x="6062222" y="1617027"/>
            <a:ext cx="6124550" cy="217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66A35545-27DE-4A5D-8C57-C345D536BE53}"/>
              </a:ext>
            </a:extLst>
          </p:cNvPr>
          <p:cNvSpPr>
            <a:spLocks noGrp="1"/>
          </p:cNvSpPr>
          <p:nvPr/>
        </p:nvSpPr>
        <p:spPr>
          <a:xfrm>
            <a:off x="8304155" y="3449727"/>
            <a:ext cx="1602929" cy="611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5794C1E5-0526-49D4-BED4-BE9D0491C9A7}"/>
              </a:ext>
            </a:extLst>
          </p:cNvPr>
          <p:cNvSpPr>
            <a:spLocks noGrp="1"/>
          </p:cNvSpPr>
          <p:nvPr/>
        </p:nvSpPr>
        <p:spPr>
          <a:xfrm>
            <a:off x="4476794" y="3491177"/>
            <a:ext cx="9513225" cy="262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0" name="Google Shape;98;p1"/>
          <p:cNvCxnSpPr/>
          <p:nvPr/>
        </p:nvCxnSpPr>
        <p:spPr>
          <a:xfrm>
            <a:off x="10053791" y="3815655"/>
            <a:ext cx="1966218" cy="0"/>
          </a:xfrm>
          <a:prstGeom prst="straightConnector1">
            <a:avLst/>
          </a:prstGeom>
          <a:ln w="536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">
            <a:extLst>
              <a:ext uri="{FF2B5EF4-FFF2-40B4-BE49-F238E27FC236}">
                <a16:creationId xmlns:a16="http://schemas.microsoft.com/office/drawing/2014/main" id="{F0F1FACA-8D7D-4D52-9858-DE26EB5EDE2D}"/>
              </a:ext>
            </a:extLst>
          </p:cNvPr>
          <p:cNvSpPr>
            <a:spLocks noGrp="1"/>
          </p:cNvSpPr>
          <p:nvPr/>
        </p:nvSpPr>
        <p:spPr>
          <a:xfrm>
            <a:off x="8341909" y="6169790"/>
            <a:ext cx="217905" cy="21790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9EECD32-8472-47F8-B0B4-C088D67BF32C}"/>
              </a:ext>
            </a:extLst>
          </p:cNvPr>
          <p:cNvSpPr>
            <a:spLocks noGrp="1"/>
          </p:cNvSpPr>
          <p:nvPr/>
        </p:nvSpPr>
        <p:spPr>
          <a:xfrm>
            <a:off x="8362337" y="6180004"/>
            <a:ext cx="177048" cy="1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1">
            <a:extLst>
              <a:ext uri="{FF2B5EF4-FFF2-40B4-BE49-F238E27FC236}">
                <a16:creationId xmlns:a16="http://schemas.microsoft.com/office/drawing/2014/main" id="{1156CD4F-6763-46A1-9C0B-F938D16FEAAC}"/>
              </a:ext>
            </a:extLst>
          </p:cNvPr>
          <p:cNvSpPr>
            <a:spLocks noGrp="1"/>
          </p:cNvSpPr>
          <p:nvPr/>
        </p:nvSpPr>
        <p:spPr>
          <a:xfrm>
            <a:off x="9015544" y="6189516"/>
            <a:ext cx="217905" cy="21790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EFEFD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">
            <a:extLst>
              <a:ext uri="{FF2B5EF4-FFF2-40B4-BE49-F238E27FC236}">
                <a16:creationId xmlns:a16="http://schemas.microsoft.com/office/drawing/2014/main" id="{E1D0574D-193D-4225-B9EB-DE36E5E8E4DB}"/>
              </a:ext>
            </a:extLst>
          </p:cNvPr>
          <p:cNvSpPr>
            <a:spLocks noGrp="1"/>
          </p:cNvSpPr>
          <p:nvPr/>
        </p:nvSpPr>
        <p:spPr>
          <a:xfrm>
            <a:off x="9035972" y="6199730"/>
            <a:ext cx="177048" cy="1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A0A5E6E5-155E-4146-8C1B-9E91990DC6B7}"/>
              </a:ext>
            </a:extLst>
          </p:cNvPr>
          <p:cNvSpPr>
            <a:spLocks noGrp="1"/>
          </p:cNvSpPr>
          <p:nvPr/>
        </p:nvSpPr>
        <p:spPr>
          <a:xfrm>
            <a:off x="9689180" y="6189516"/>
            <a:ext cx="217905" cy="21790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762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E92A7025-2927-47DE-ADAB-C973FE0C95FF}"/>
              </a:ext>
            </a:extLst>
          </p:cNvPr>
          <p:cNvSpPr>
            <a:spLocks noGrp="1"/>
          </p:cNvSpPr>
          <p:nvPr/>
        </p:nvSpPr>
        <p:spPr>
          <a:xfrm>
            <a:off x="9709608" y="6199730"/>
            <a:ext cx="177048" cy="1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1">
            <a:extLst>
              <a:ext uri="{FF2B5EF4-FFF2-40B4-BE49-F238E27FC236}">
                <a16:creationId xmlns:a16="http://schemas.microsoft.com/office/drawing/2014/main" id="{287FF011-CDBC-4371-B8CA-D3143582CF7E}"/>
              </a:ext>
            </a:extLst>
          </p:cNvPr>
          <p:cNvSpPr>
            <a:spLocks noGrp="1"/>
          </p:cNvSpPr>
          <p:nvPr/>
        </p:nvSpPr>
        <p:spPr>
          <a:xfrm>
            <a:off x="6030269" y="5703121"/>
            <a:ext cx="6188455" cy="34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D872C733-92D0-4F2E-9985-81F032D404FE}"/>
              </a:ext>
            </a:extLst>
          </p:cNvPr>
          <p:cNvSpPr>
            <a:spLocks noGrp="1"/>
          </p:cNvSpPr>
          <p:nvPr/>
        </p:nvSpPr>
        <p:spPr>
          <a:xfrm>
            <a:off x="1145912" y="7046928"/>
            <a:ext cx="7329305" cy="4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">
            <a:extLst>
              <a:ext uri="{FF2B5EF4-FFF2-40B4-BE49-F238E27FC236}">
                <a16:creationId xmlns:a16="http://schemas.microsoft.com/office/drawing/2014/main" id="{9B7EAA2B-B0CD-476F-94B2-90D2C5C70B7C}"/>
              </a:ext>
            </a:extLst>
          </p:cNvPr>
          <p:cNvSpPr>
            <a:spLocks noGrp="1"/>
          </p:cNvSpPr>
          <p:nvPr/>
        </p:nvSpPr>
        <p:spPr>
          <a:xfrm>
            <a:off x="1145912" y="7633093"/>
            <a:ext cx="7329305" cy="4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">
            <a:extLst>
              <a:ext uri="{FF2B5EF4-FFF2-40B4-BE49-F238E27FC236}">
                <a16:creationId xmlns:a16="http://schemas.microsoft.com/office/drawing/2014/main" id="{B9514DAB-B9F1-48B6-9391-9C4702FCBD4C}"/>
              </a:ext>
            </a:extLst>
          </p:cNvPr>
          <p:cNvSpPr>
            <a:spLocks noGrp="1"/>
          </p:cNvSpPr>
          <p:nvPr/>
        </p:nvSpPr>
        <p:spPr>
          <a:xfrm>
            <a:off x="1145912" y="8247895"/>
            <a:ext cx="7329305" cy="4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">
            <a:extLst>
              <a:ext uri="{FF2B5EF4-FFF2-40B4-BE49-F238E27FC236}">
                <a16:creationId xmlns:a16="http://schemas.microsoft.com/office/drawing/2014/main" id="{BCEFC764-AEF9-4A55-A007-A0EEFB4670D8}"/>
              </a:ext>
            </a:extLst>
          </p:cNvPr>
          <p:cNvSpPr>
            <a:spLocks noGrp="1"/>
          </p:cNvSpPr>
          <p:nvPr/>
        </p:nvSpPr>
        <p:spPr>
          <a:xfrm>
            <a:off x="1145912" y="8834060"/>
            <a:ext cx="7329305" cy="4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">
            <a:extLst>
              <a:ext uri="{FF2B5EF4-FFF2-40B4-BE49-F238E27FC236}">
                <a16:creationId xmlns:a16="http://schemas.microsoft.com/office/drawing/2014/main" id="{61C63134-3B69-4645-83F6-9339B328271F}"/>
              </a:ext>
            </a:extLst>
          </p:cNvPr>
          <p:cNvSpPr>
            <a:spLocks noGrp="1"/>
          </p:cNvSpPr>
          <p:nvPr/>
        </p:nvSpPr>
        <p:spPr>
          <a:xfrm>
            <a:off x="8675659" y="13303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1" b="-14342"/>
            </a:stretch>
          </a:blipFill>
          <a:ln>
            <a:noFill/>
          </a:ln>
        </p:spPr>
      </p:sp>
      <p:pic>
        <p:nvPicPr>
          <p:cNvPr id="143" name="Google Shape;114;p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0962" y="194675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F8E9022F-1C30-4BA6-B5E9-77AFEFEA0F13}"/>
              </a:ext>
            </a:extLst>
          </p:cNvPr>
          <p:cNvSpPr>
            <a:spLocks noGrp="1"/>
          </p:cNvSpPr>
          <p:nvPr/>
        </p:nvSpPr>
        <p:spPr>
          <a:xfrm>
            <a:off x="2095500" y="2476500"/>
            <a:ext cx="13811250" cy="1524000"/>
          </a:xfrm>
          <a:prstGeom prst="roundRect">
            <a:avLst>
              <a:gd name="adj" fmla="val 5000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61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61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SkillBridge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318C802B-EC58-4D0F-A80C-3EA36F7C7C6E}"/>
              </a:ext>
            </a:extLst>
          </p:cNvPr>
          <p:cNvSpPr>
            <a:spLocks noGrp="1"/>
          </p:cNvSpPr>
          <p:nvPr/>
        </p:nvSpPr>
        <p:spPr>
          <a:xfrm>
            <a:off x="2476500" y="4191000"/>
            <a:ext cx="12858750" cy="714375"/>
          </a:xfrm>
          <a:prstGeom prst="roundRect">
            <a:avLst>
              <a:gd name="adj" fmla="val 10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AI powered matching for student projects, teammates and mentors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97A11488-D180-42A6-A6F3-0D097FD492F0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6191250" cy="476250"/>
          </a:xfrm>
          <a:prstGeom prst="roundRect">
            <a:avLst>
              <a:gd name="adj" fmla="val 16000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Build With Bharat 4.0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A5ED9BC0-8B71-4C26-83F5-5E884AF91777}"/>
              </a:ext>
            </a:extLst>
          </p:cNvPr>
          <p:cNvSpPr>
            <a:spLocks noGrp="1"/>
          </p:cNvSpPr>
          <p:nvPr/>
        </p:nvSpPr>
        <p:spPr>
          <a:xfrm>
            <a:off x="2381250" y="6667500"/>
            <a:ext cx="13811250" cy="1619250"/>
          </a:xfrm>
          <a:prstGeom prst="roundRect">
            <a:avLst>
              <a:gd name="adj" fmla="val 4706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7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Team: [Add your team name]</a:t>
            </a:r>
          </a:p>
          <a:p>
            <a:pPr>
              <a:defRPr sz="187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Members: [Add names]</a:t>
            </a:r>
          </a:p>
          <a:p>
            <a:pPr>
              <a:defRPr sz="187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College: [Add college name]</a:t>
            </a:r>
          </a:p>
        </p:txBody>
      </p:sp>
    </p:spTree>
    <p:extLst>
      <p:ext uri="{BB962C8B-B14F-4D97-AF65-F5344CB8AC3E}">
        <p14:creationId xmlns:p14="http://schemas.microsoft.com/office/powerpoint/2010/main" val="6496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19;p2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2A041A68-8D27-4621-8C88-8C89BC61F15E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cxnSp>
        <p:nvCxnSpPr>
          <p:cNvPr id="144" name="Google Shape;122;p2"/>
          <p:cNvCxnSpPr/>
          <p:nvPr/>
        </p:nvCxnSpPr>
        <p:spPr>
          <a:xfrm>
            <a:off x="10834269" y="2194520"/>
            <a:ext cx="7006602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F4DE1CB5-1BC4-4A65-B7ED-2664E62DE5C7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F8EDEB47-3392-4D25-8C90-C6ECC6B62C1A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2">
            <a:extLst>
              <a:ext uri="{FF2B5EF4-FFF2-40B4-BE49-F238E27FC236}">
                <a16:creationId xmlns:a16="http://schemas.microsoft.com/office/drawing/2014/main" id="{DC59669A-A370-4DA6-916F-F8F5E3EF8191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9999453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8" name="Google Shape;128;p2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2">
            <a:extLst>
              <a:ext uri="{FF2B5EF4-FFF2-40B4-BE49-F238E27FC236}">
                <a16:creationId xmlns:a16="http://schemas.microsoft.com/office/drawing/2014/main" id="{492002D5-2ABF-4951-9476-53F66C3EC964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1" name="Google Shape;131;p2">
            <a:extLst>
              <a:ext uri="{FF2B5EF4-FFF2-40B4-BE49-F238E27FC236}">
                <a16:creationId xmlns:a16="http://schemas.microsoft.com/office/drawing/2014/main" id="{E0738689-FE11-4D26-8DF5-82C917BDCEA6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2">
            <a:extLst>
              <a:ext uri="{FF2B5EF4-FFF2-40B4-BE49-F238E27FC236}">
                <a16:creationId xmlns:a16="http://schemas.microsoft.com/office/drawing/2014/main" id="{4A9CF008-928B-4B13-963A-BC8B34F8B205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152" name="Google Shape;133;p2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2">
            <a:extLst>
              <a:ext uri="{FF2B5EF4-FFF2-40B4-BE49-F238E27FC236}">
                <a16:creationId xmlns:a16="http://schemas.microsoft.com/office/drawing/2014/main" id="{4F388F0A-1EDA-41DD-AA79-7AAC88586DFD}"/>
              </a:ext>
            </a:extLst>
          </p:cNvPr>
          <p:cNvSpPr>
            <a:spLocks noGrp="1"/>
          </p:cNvSpPr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1" b="-14342"/>
            </a:stretch>
          </a:blipFill>
          <a:ln>
            <a:noFill/>
          </a:ln>
        </p:spPr>
      </p:sp>
      <p:pic>
        <p:nvPicPr>
          <p:cNvPr id="154" name="Google Shape;135;p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F121FBE7-D24F-471E-B30F-C6E8BA3B370E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THE DISCOVERY GAP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716EBEBD-2D21-4A36-96C9-E81A76D0C3B1}"/>
              </a:ext>
            </a:extLst>
          </p:cNvPr>
          <p:cNvSpPr>
            <a:spLocks noGrp="1"/>
          </p:cNvSpPr>
          <p:nvPr/>
        </p:nvSpPr>
        <p:spPr>
          <a:xfrm>
            <a:off x="1333500" y="3143250"/>
            <a:ext cx="15240000" cy="904875"/>
          </a:xfrm>
          <a:prstGeom prst="roundRect">
            <a:avLst>
              <a:gd name="adj" fmla="val 842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17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Students want meaningful projects, but finding the right people still depends on scattered groups and personal networks.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F7DE8F83-FB25-4728-BBDC-335D81C2AF3A}"/>
              </a:ext>
            </a:extLst>
          </p:cNvPr>
          <p:cNvSpPr>
            <a:spLocks noGrp="1"/>
          </p:cNvSpPr>
          <p:nvPr/>
        </p:nvSpPr>
        <p:spPr>
          <a:xfrm>
            <a:off x="1619250" y="4762500"/>
            <a:ext cx="45720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Finding teammates</a:t>
            </a:r>
          </a:p>
          <a:p>
            <a:pPr>
              <a:def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Manual searching across chats and groups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8A9133B5-DA29-4316-A9E0-E5E21C0E8B0D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45720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Finding projects</a:t>
            </a:r>
          </a:p>
          <a:p>
            <a:pPr>
              <a:def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Skills and interests rarely match open roles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BFB1447C-51F3-434B-B6EF-A51B7AED51B8}"/>
              </a:ext>
            </a:extLst>
          </p:cNvPr>
          <p:cNvSpPr>
            <a:spLocks noGrp="1"/>
          </p:cNvSpPr>
          <p:nvPr/>
        </p:nvSpPr>
        <p:spPr>
          <a:xfrm>
            <a:off x="12096750" y="4762500"/>
            <a:ext cx="45720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Finding mentors</a:t>
            </a:r>
          </a:p>
          <a:p>
            <a:pPr>
              <a:def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Guidance is fragmented and hard to access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C15B7CC9-1B3E-488A-8B7D-CBC70AC18444}"/>
              </a:ext>
            </a:extLst>
          </p:cNvPr>
          <p:cNvSpPr>
            <a:spLocks noGrp="1"/>
          </p:cNvSpPr>
          <p:nvPr/>
        </p:nvSpPr>
        <p:spPr>
          <a:xfrm>
            <a:off x="1905000" y="7524750"/>
            <a:ext cx="14287500" cy="666750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Result: promising ideas lose momentum before the right team forms.</a:t>
            </a:r>
          </a:p>
        </p:txBody>
      </p:sp>
    </p:spTree>
    <p:extLst>
      <p:ext uri="{BB962C8B-B14F-4D97-AF65-F5344CB8AC3E}">
        <p14:creationId xmlns:p14="http://schemas.microsoft.com/office/powerpoint/2010/main" val="72894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>
            <a:extLst>
              <a:ext uri="{FF2B5EF4-FFF2-40B4-BE49-F238E27FC236}">
                <a16:creationId xmlns:a16="http://schemas.microsoft.com/office/drawing/2014/main" id="{28FC5D96-8C1D-4EF6-8100-A52873B60BC9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141" name="Google Shape;141;p3">
            <a:extLst>
              <a:ext uri="{FF2B5EF4-FFF2-40B4-BE49-F238E27FC236}">
                <a16:creationId xmlns:a16="http://schemas.microsoft.com/office/drawing/2014/main" id="{9C6711DF-088A-4DA5-9601-AF618F697735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459777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5" name="Google Shape;142;p3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44;p3"/>
          <p:cNvCxnSpPr/>
          <p:nvPr/>
        </p:nvCxnSpPr>
        <p:spPr>
          <a:xfrm>
            <a:off x="5432593" y="2194520"/>
            <a:ext cx="12408278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FFBA4C0A-2E78-4C63-9F27-A710269938C2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0FD0BDD8-FBCC-4429-BF0D-3B08B742E2E9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69" name="Google Shape;149;p3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91D28B51-9ACA-4E7C-8285-33EE9F5F6DA3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" name="Google Shape;152;p3">
            <a:extLst>
              <a:ext uri="{FF2B5EF4-FFF2-40B4-BE49-F238E27FC236}">
                <a16:creationId xmlns:a16="http://schemas.microsoft.com/office/drawing/2014/main" id="{A9AF6B8F-0ED1-4760-A18A-C923E2057B6F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3">
            <a:extLst>
              <a:ext uri="{FF2B5EF4-FFF2-40B4-BE49-F238E27FC236}">
                <a16:creationId xmlns:a16="http://schemas.microsoft.com/office/drawing/2014/main" id="{1C24E135-6D43-4E1C-80FF-8A9570A5CA1B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173" name="Google Shape;154;p3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3">
            <a:extLst>
              <a:ext uri="{FF2B5EF4-FFF2-40B4-BE49-F238E27FC236}">
                <a16:creationId xmlns:a16="http://schemas.microsoft.com/office/drawing/2014/main" id="{07D95EB4-3693-4ABE-8ECB-4573E8E4F6F6}"/>
              </a:ext>
            </a:extLst>
          </p:cNvPr>
          <p:cNvSpPr>
            <a:spLocks noGrp="1"/>
          </p:cNvSpPr>
          <p:nvPr/>
        </p:nvSpPr>
        <p:spPr>
          <a:xfrm>
            <a:off x="9596214" y="2237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175" name="Google Shape;156;p3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0138" y="2357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FF81167D-8C91-44AA-9600-420068341100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SKILLBRIDGE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8A22B973-8261-44F5-8D86-A7C6DB5F1DBF}"/>
              </a:ext>
            </a:extLst>
          </p:cNvPr>
          <p:cNvSpPr>
            <a:spLocks noGrp="1"/>
          </p:cNvSpPr>
          <p:nvPr/>
        </p:nvSpPr>
        <p:spPr>
          <a:xfrm>
            <a:off x="1524000" y="3095625"/>
            <a:ext cx="14763750" cy="714375"/>
          </a:xfrm>
          <a:prstGeom prst="roundRect">
            <a:avLst>
              <a:gd name="adj" fmla="val 10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A campus platform that translates skills, interests and project needs into clear recommendations.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C8F355E2-4F96-4510-ACFE-5DFE59DB2DDD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Create a profile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Skills, interests, availability and portfolio links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5FDF8A4F-876D-46AA-80EA-5BCD7BAE8556}"/>
              </a:ext>
            </a:extLst>
          </p:cNvPr>
          <p:cNvSpPr>
            <a:spLocks noGrp="1"/>
          </p:cNvSpPr>
          <p:nvPr/>
        </p:nvSpPr>
        <p:spPr>
          <a:xfrm>
            <a:off x="542925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2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Post or discover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Projects with roles, domain and timeline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40DE3B4-6174-4362-BAD9-EFFAA345B5DD}"/>
              </a:ext>
            </a:extLst>
          </p:cNvPr>
          <p:cNvSpPr>
            <a:spLocks noGrp="1"/>
          </p:cNvSpPr>
          <p:nvPr/>
        </p:nvSpPr>
        <p:spPr>
          <a:xfrm>
            <a:off x="933450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3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Get explainable matches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See fit, gaps and match reasons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4C2F6C25-3E57-4A5F-B38E-5BA3A959F8BB}"/>
              </a:ext>
            </a:extLst>
          </p:cNvPr>
          <p:cNvSpPr>
            <a:spLocks noGrp="1"/>
          </p:cNvSpPr>
          <p:nvPr/>
        </p:nvSpPr>
        <p:spPr>
          <a:xfrm>
            <a:off x="13239750" y="45720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4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Build the team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Invite candidates and track missing roles</a:t>
            </a:r>
          </a:p>
        </p:txBody>
      </p:sp>
    </p:spTree>
    <p:extLst>
      <p:ext uri="{BB962C8B-B14F-4D97-AF65-F5344CB8AC3E}">
        <p14:creationId xmlns:p14="http://schemas.microsoft.com/office/powerpoint/2010/main" val="1006032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02F5B93-F7BA-420C-8FBA-5E4C083722D0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3D4FF78-1094-49CF-BEAF-BD6E25AC3A18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889105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63;p4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65;p4"/>
          <p:cNvCxnSpPr/>
          <p:nvPr/>
        </p:nvCxnSpPr>
        <p:spPr>
          <a:xfrm>
            <a:off x="9725874" y="2194520"/>
            <a:ext cx="8193336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4">
            <a:extLst>
              <a:ext uri="{FF2B5EF4-FFF2-40B4-BE49-F238E27FC236}">
                <a16:creationId xmlns:a16="http://schemas.microsoft.com/office/drawing/2014/main" id="{A0A5FCEE-4C57-4E54-89C2-CBFCB8B8E981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">
            <a:extLst>
              <a:ext uri="{FF2B5EF4-FFF2-40B4-BE49-F238E27FC236}">
                <a16:creationId xmlns:a16="http://schemas.microsoft.com/office/drawing/2014/main" id="{4C26C9AD-1DCA-440E-8E20-7096D87D0787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5" name="Google Shape;170;p4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4">
            <a:extLst>
              <a:ext uri="{FF2B5EF4-FFF2-40B4-BE49-F238E27FC236}">
                <a16:creationId xmlns:a16="http://schemas.microsoft.com/office/drawing/2014/main" id="{09EF5FFD-1AE9-4672-9C92-F85FDD375857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3" name="Google Shape;173;p4">
            <a:extLst>
              <a:ext uri="{FF2B5EF4-FFF2-40B4-BE49-F238E27FC236}">
                <a16:creationId xmlns:a16="http://schemas.microsoft.com/office/drawing/2014/main" id="{7F76C6CE-4FDA-4561-BD95-818B71540BE6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9FBB8205-B92E-479B-8C4A-8EB56B0E4CF7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199" name="Google Shape;175;p4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4">
            <a:extLst>
              <a:ext uri="{FF2B5EF4-FFF2-40B4-BE49-F238E27FC236}">
                <a16:creationId xmlns:a16="http://schemas.microsoft.com/office/drawing/2014/main" id="{0266AA99-940B-423F-B48E-61D6CB885042}"/>
              </a:ext>
            </a:extLst>
          </p:cNvPr>
          <p:cNvSpPr>
            <a:spLocks noGrp="1"/>
          </p:cNvSpPr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01" name="Google Shape;177;p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FDC93919-D2C0-41DD-B597-AFF3CA1FB053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MATCHING WORKFLOW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96C7B347-01D3-4CB9-B46B-8F08F917374F}"/>
              </a:ext>
            </a:extLst>
          </p:cNvPr>
          <p:cNvSpPr>
            <a:spLocks noGrp="1"/>
          </p:cNvSpPr>
          <p:nvPr/>
        </p:nvSpPr>
        <p:spPr>
          <a:xfrm>
            <a:off x="109537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Student profile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skills, interests, availability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07B2034C-8F36-4E2D-8732-5EE9A782888D}"/>
              </a:ext>
            </a:extLst>
          </p:cNvPr>
          <p:cNvSpPr>
            <a:spLocks noGrp="1"/>
          </p:cNvSpPr>
          <p:nvPr/>
        </p:nvSpPr>
        <p:spPr>
          <a:xfrm>
            <a:off x="376237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F63FE97E-8042-4003-89AD-205E0D6444FD}"/>
              </a:ext>
            </a:extLst>
          </p:cNvPr>
          <p:cNvSpPr>
            <a:spLocks noGrp="1"/>
          </p:cNvSpPr>
          <p:nvPr/>
        </p:nvSpPr>
        <p:spPr>
          <a:xfrm>
            <a:off x="442912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Project brief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roles, requirements, timeline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9231070A-8692-40FD-B2D6-BE42D98D80F7}"/>
              </a:ext>
            </a:extLst>
          </p:cNvPr>
          <p:cNvSpPr>
            <a:spLocks noGrp="1"/>
          </p:cNvSpPr>
          <p:nvPr/>
        </p:nvSpPr>
        <p:spPr>
          <a:xfrm>
            <a:off x="709612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DE03F786-6A16-4652-990F-5787D57FA5CA}"/>
              </a:ext>
            </a:extLst>
          </p:cNvPr>
          <p:cNvSpPr>
            <a:spLocks noGrp="1"/>
          </p:cNvSpPr>
          <p:nvPr/>
        </p:nvSpPr>
        <p:spPr>
          <a:xfrm>
            <a:off x="776287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Skill normalizer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taxonomy and related skills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D40036B2-23CF-4949-96E4-6903D7639D22}"/>
              </a:ext>
            </a:extLst>
          </p:cNvPr>
          <p:cNvSpPr>
            <a:spLocks noGrp="1"/>
          </p:cNvSpPr>
          <p:nvPr/>
        </p:nvSpPr>
        <p:spPr>
          <a:xfrm>
            <a:off x="1042987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69C3F8A-9F59-4D2C-87F7-F61DD5B4066B}"/>
              </a:ext>
            </a:extLst>
          </p:cNvPr>
          <p:cNvSpPr>
            <a:spLocks noGrp="1"/>
          </p:cNvSpPr>
          <p:nvPr/>
        </p:nvSpPr>
        <p:spPr>
          <a:xfrm>
            <a:off x="1109662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BE3D4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Match ranking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weighted fit and team gaps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7BA6F2AE-2881-4335-AEB9-16E078C7BDFC}"/>
              </a:ext>
            </a:extLst>
          </p:cNvPr>
          <p:cNvSpPr>
            <a:spLocks noGrp="1"/>
          </p:cNvSpPr>
          <p:nvPr/>
        </p:nvSpPr>
        <p:spPr>
          <a:xfrm>
            <a:off x="13763625" y="5191125"/>
            <a:ext cx="523875" cy="666750"/>
          </a:xfrm>
          <a:prstGeom prst="roundRect">
            <a:avLst>
              <a:gd name="adj" fmla="val 14545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E45F2B"/>
                </a:solidFill>
                <a:latin typeface="Montserrat"/>
                <a:ea typeface="Montserrat"/>
                <a:cs typeface="Montserrat"/>
              </a:rPr>
              <a:t>›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B44E888C-01EB-4D5A-BED9-876404040619}"/>
              </a:ext>
            </a:extLst>
          </p:cNvPr>
          <p:cNvSpPr>
            <a:spLocks noGrp="1"/>
          </p:cNvSpPr>
          <p:nvPr/>
        </p:nvSpPr>
        <p:spPr>
          <a:xfrm>
            <a:off x="14430375" y="4762500"/>
            <a:ext cx="2619375" cy="1619250"/>
          </a:xfrm>
          <a:prstGeom prst="roundRect">
            <a:avLst>
              <a:gd name="adj" fmla="val 4706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Team action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invite, accept, build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C9BD1177-C4D4-41C2-8D8D-A5B4477A639A}"/>
              </a:ext>
            </a:extLst>
          </p:cNvPr>
          <p:cNvSpPr>
            <a:spLocks noGrp="1"/>
          </p:cNvSpPr>
          <p:nvPr/>
        </p:nvSpPr>
        <p:spPr>
          <a:xfrm>
            <a:off x="1714500" y="7381875"/>
            <a:ext cx="14287500" cy="666750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Explainability: every recommendation lists the skills, interests and availability factors behind the score.</a:t>
            </a:r>
          </a:p>
        </p:txBody>
      </p:sp>
    </p:spTree>
    <p:extLst>
      <p:ext uri="{BB962C8B-B14F-4D97-AF65-F5344CB8AC3E}">
        <p14:creationId xmlns:p14="http://schemas.microsoft.com/office/powerpoint/2010/main" val="138918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>
            <a:extLst>
              <a:ext uri="{FF2B5EF4-FFF2-40B4-BE49-F238E27FC236}">
                <a16:creationId xmlns:a16="http://schemas.microsoft.com/office/drawing/2014/main" id="{0A277E4F-2115-4AFB-BD1A-21072CA0D5E5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183" name="Google Shape;183;p5">
            <a:extLst>
              <a:ext uri="{FF2B5EF4-FFF2-40B4-BE49-F238E27FC236}">
                <a16:creationId xmlns:a16="http://schemas.microsoft.com/office/drawing/2014/main" id="{842A3FB8-D6FA-4A82-89E0-D73A5D5AE52E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565030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" name="Google Shape;184;p5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186;p5"/>
          <p:cNvCxnSpPr/>
          <p:nvPr/>
        </p:nvCxnSpPr>
        <p:spPr>
          <a:xfrm>
            <a:off x="6485126" y="2194520"/>
            <a:ext cx="11355745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5">
            <a:extLst>
              <a:ext uri="{FF2B5EF4-FFF2-40B4-BE49-F238E27FC236}">
                <a16:creationId xmlns:a16="http://schemas.microsoft.com/office/drawing/2014/main" id="{F2189ADE-FA98-4B9E-B686-1515BF9DD408}"/>
              </a:ext>
            </a:extLst>
          </p:cNvPr>
          <p:cNvSpPr>
            <a:spLocks noGrp="1"/>
          </p:cNvSpPr>
          <p:nvPr/>
        </p:nvSpPr>
        <p:spPr>
          <a:xfrm>
            <a:off x="17656482" y="2063156"/>
            <a:ext cx="262727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>
            <a:extLst>
              <a:ext uri="{FF2B5EF4-FFF2-40B4-BE49-F238E27FC236}">
                <a16:creationId xmlns:a16="http://schemas.microsoft.com/office/drawing/2014/main" id="{4FE3F434-9273-47E5-A3D6-E38C6D9AEE8B}"/>
              </a:ext>
            </a:extLst>
          </p:cNvPr>
          <p:cNvSpPr>
            <a:spLocks noGrp="1"/>
          </p:cNvSpPr>
          <p:nvPr/>
        </p:nvSpPr>
        <p:spPr>
          <a:xfrm>
            <a:off x="17681112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2" name="Google Shape;191;p5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5">
            <a:extLst>
              <a:ext uri="{FF2B5EF4-FFF2-40B4-BE49-F238E27FC236}">
                <a16:creationId xmlns:a16="http://schemas.microsoft.com/office/drawing/2014/main" id="{B4068A64-CAE8-404B-9FCE-2C2642C6A12D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4" name="Google Shape;194;p5">
            <a:extLst>
              <a:ext uri="{FF2B5EF4-FFF2-40B4-BE49-F238E27FC236}">
                <a16:creationId xmlns:a16="http://schemas.microsoft.com/office/drawing/2014/main" id="{A14FC521-4855-4CAA-A56D-1B43E15F9554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5">
            <a:extLst>
              <a:ext uri="{FF2B5EF4-FFF2-40B4-BE49-F238E27FC236}">
                <a16:creationId xmlns:a16="http://schemas.microsoft.com/office/drawing/2014/main" id="{2C98EB6D-3674-472D-ADA9-AFCBED1E79E6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216" name="Google Shape;196;p5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5">
            <a:extLst>
              <a:ext uri="{FF2B5EF4-FFF2-40B4-BE49-F238E27FC236}">
                <a16:creationId xmlns:a16="http://schemas.microsoft.com/office/drawing/2014/main" id="{B169BC46-7AFC-42E2-9A0F-896F344CDC26}"/>
              </a:ext>
            </a:extLst>
          </p:cNvPr>
          <p:cNvSpPr>
            <a:spLocks noGrp="1"/>
          </p:cNvSpPr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18" name="Google Shape;198;p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51354DEE-3EAE-495D-9DEA-423CB906B287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TECHNOLOGY STACK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0E5E56E7-187F-41E7-8598-18E807BC4416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Web app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React / Next.js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Responsive interface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49887F2B-9365-4FD8-8AF2-0750D38FBA7D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Backend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Node.js / Express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REST APIs and auth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497CF5C3-0D92-4F42-8636-C11669A1690C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Data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PostgreSQL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Profiles, projects, invites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B8568EB3-6523-4312-B249-7A5BCC7909B2}"/>
              </a:ext>
            </a:extLst>
          </p:cNvPr>
          <p:cNvSpPr>
            <a:spLocks noGrp="1"/>
          </p:cNvSpPr>
          <p:nvPr/>
        </p:nvSpPr>
        <p:spPr>
          <a:xfrm>
            <a:off x="1123950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Matching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Rule engine + embeddings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Explainable ranking</a:t>
            </a: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1168414D-DA35-4C6E-A583-91C86B69A32F}"/>
              </a:ext>
            </a:extLst>
          </p:cNvPr>
          <p:cNvSpPr>
            <a:spLocks noGrp="1"/>
          </p:cNvSpPr>
          <p:nvPr/>
        </p:nvSpPr>
        <p:spPr>
          <a:xfrm>
            <a:off x="14573250" y="4095750"/>
            <a:ext cx="2762250" cy="2286000"/>
          </a:xfrm>
          <a:prstGeom prst="roundRect">
            <a:avLst>
              <a:gd name="adj" fmla="val 3333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Integration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GitHub OAuth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Opt-in public metadata</a:t>
            </a:r>
          </a:p>
        </p:txBody>
      </p: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39381837-B4CE-4B11-A383-A9D8D02A67A9}"/>
              </a:ext>
            </a:extLst>
          </p:cNvPr>
          <p:cNvSpPr>
            <a:spLocks noGrp="1"/>
          </p:cNvSpPr>
          <p:nvPr/>
        </p:nvSpPr>
        <p:spPr>
          <a:xfrm>
            <a:off x="1809750" y="7239000"/>
            <a:ext cx="14287500" cy="666750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MVP fallback: keyword and tag matching keeps the demo reliable if an external AI service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99949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>
            <a:extLst>
              <a:ext uri="{FF2B5EF4-FFF2-40B4-BE49-F238E27FC236}">
                <a16:creationId xmlns:a16="http://schemas.microsoft.com/office/drawing/2014/main" id="{8803A96C-7058-4D97-A948-7125540CF63E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204" name="Google Shape;204;p6">
            <a:extLst>
              <a:ext uri="{FF2B5EF4-FFF2-40B4-BE49-F238E27FC236}">
                <a16:creationId xmlns:a16="http://schemas.microsoft.com/office/drawing/2014/main" id="{2DF95771-E559-4A07-9A4C-10FC94EAADB8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14041391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7" name="Google Shape;205;p6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07;p6"/>
          <p:cNvCxnSpPr/>
          <p:nvPr/>
        </p:nvCxnSpPr>
        <p:spPr>
          <a:xfrm>
            <a:off x="14876208" y="2132608"/>
            <a:ext cx="2911638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6">
            <a:extLst>
              <a:ext uri="{FF2B5EF4-FFF2-40B4-BE49-F238E27FC236}">
                <a16:creationId xmlns:a16="http://schemas.microsoft.com/office/drawing/2014/main" id="{C0A24C4F-588B-456F-BEA2-591569386918}"/>
              </a:ext>
            </a:extLst>
          </p:cNvPr>
          <p:cNvSpPr>
            <a:spLocks noGrp="1"/>
          </p:cNvSpPr>
          <p:nvPr/>
        </p:nvSpPr>
        <p:spPr>
          <a:xfrm>
            <a:off x="17656482" y="2001244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6">
            <a:extLst>
              <a:ext uri="{FF2B5EF4-FFF2-40B4-BE49-F238E27FC236}">
                <a16:creationId xmlns:a16="http://schemas.microsoft.com/office/drawing/2014/main" id="{80D07A42-E955-4F08-954A-C773F76EDC8D}"/>
              </a:ext>
            </a:extLst>
          </p:cNvPr>
          <p:cNvSpPr>
            <a:spLocks noGrp="1"/>
          </p:cNvSpPr>
          <p:nvPr/>
        </p:nvSpPr>
        <p:spPr>
          <a:xfrm>
            <a:off x="17681112" y="2013559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31" name="Google Shape;212;p6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6">
            <a:extLst>
              <a:ext uri="{FF2B5EF4-FFF2-40B4-BE49-F238E27FC236}">
                <a16:creationId xmlns:a16="http://schemas.microsoft.com/office/drawing/2014/main" id="{98FA9922-98DA-4CE0-B142-C2DC3329D907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Google Shape;215;p6">
            <a:extLst>
              <a:ext uri="{FF2B5EF4-FFF2-40B4-BE49-F238E27FC236}">
                <a16:creationId xmlns:a16="http://schemas.microsoft.com/office/drawing/2014/main" id="{0B25F214-4EB5-4C0A-815B-C1A0DB9DE1C1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6">
            <a:extLst>
              <a:ext uri="{FF2B5EF4-FFF2-40B4-BE49-F238E27FC236}">
                <a16:creationId xmlns:a16="http://schemas.microsoft.com/office/drawing/2014/main" id="{8ADD53B0-A016-4DDF-8696-FE67B2FF9CF5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235" name="Google Shape;217;p6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6">
            <a:extLst>
              <a:ext uri="{FF2B5EF4-FFF2-40B4-BE49-F238E27FC236}">
                <a16:creationId xmlns:a16="http://schemas.microsoft.com/office/drawing/2014/main" id="{31436523-2712-4C78-A72E-91C03202908B}"/>
              </a:ext>
            </a:extLst>
          </p:cNvPr>
          <p:cNvSpPr>
            <a:spLocks noGrp="1"/>
          </p:cNvSpPr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37" name="Google Shape;219;p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CA828B8A-902B-4D14-A95A-FCBAAE646721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WHY SKILLBRIDGE</a:t>
            </a: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DAF1B1BC-4A90-424C-894C-3AFEE7DF30EA}"/>
              </a:ext>
            </a:extLst>
          </p:cNvPr>
          <p:cNvSpPr>
            <a:spLocks noGrp="1"/>
          </p:cNvSpPr>
          <p:nvPr/>
        </p:nvSpPr>
        <p:spPr>
          <a:xfrm>
            <a:off x="1619250" y="3143250"/>
            <a:ext cx="14763750" cy="809625"/>
          </a:xfrm>
          <a:prstGeom prst="roundRect">
            <a:avLst>
              <a:gd name="adj" fmla="val 9412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Most tools list people. SkillBridge helps form a balanced team around an actual project need.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F0CBF566-1D99-42AA-8B2C-0750D53F643D}"/>
              </a:ext>
            </a:extLst>
          </p:cNvPr>
          <p:cNvSpPr>
            <a:spLocks noGrp="1"/>
          </p:cNvSpPr>
          <p:nvPr/>
        </p:nvSpPr>
        <p:spPr>
          <a:xfrm>
            <a:off x="1476375" y="4762500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Explainable recommendations</a:t>
            </a:r>
          </a:p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Students see why a match fits.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0F83270C-A62A-4464-B356-C0237DFEFF75}"/>
              </a:ext>
            </a:extLst>
          </p:cNvPr>
          <p:cNvSpPr>
            <a:spLocks noGrp="1"/>
          </p:cNvSpPr>
          <p:nvPr/>
        </p:nvSpPr>
        <p:spPr>
          <a:xfrm>
            <a:off x="6953250" y="4762500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Complementary teams</a:t>
            </a:r>
          </a:p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Creators fill missing roles instead of collecting duplicate skills.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B605315D-117D-46FB-AE3E-F268C64E0672}"/>
              </a:ext>
            </a:extLst>
          </p:cNvPr>
          <p:cNvSpPr>
            <a:spLocks noGrp="1"/>
          </p:cNvSpPr>
          <p:nvPr/>
        </p:nvSpPr>
        <p:spPr>
          <a:xfrm>
            <a:off x="12430125" y="4762500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Campus context</a:t>
            </a:r>
          </a:p>
          <a:p>
            <a:pPr>
              <a:def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Availability, learning goals and hackathon urgency guide discovery.</a:t>
            </a:r>
          </a:p>
        </p:txBody>
      </p:sp>
    </p:spTree>
    <p:extLst>
      <p:ext uri="{BB962C8B-B14F-4D97-AF65-F5344CB8AC3E}">
        <p14:creationId xmlns:p14="http://schemas.microsoft.com/office/powerpoint/2010/main" val="24883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>
            <a:extLst>
              <a:ext uri="{FF2B5EF4-FFF2-40B4-BE49-F238E27FC236}">
                <a16:creationId xmlns:a16="http://schemas.microsoft.com/office/drawing/2014/main" id="{CBC09123-DFCF-4C88-8240-5308493ED11C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225" name="Google Shape;225;p7">
            <a:extLst>
              <a:ext uri="{FF2B5EF4-FFF2-40B4-BE49-F238E27FC236}">
                <a16:creationId xmlns:a16="http://schemas.microsoft.com/office/drawing/2014/main" id="{0197A3D0-AD0F-489B-BA6C-DA284FFB1793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1248184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" name="Google Shape;226;p7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28;p7"/>
          <p:cNvCxnSpPr/>
          <p:nvPr/>
        </p:nvCxnSpPr>
        <p:spPr>
          <a:xfrm>
            <a:off x="13316657" y="2194520"/>
            <a:ext cx="4524213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0" name="Google Shape;230;p7">
            <a:extLst>
              <a:ext uri="{FF2B5EF4-FFF2-40B4-BE49-F238E27FC236}">
                <a16:creationId xmlns:a16="http://schemas.microsoft.com/office/drawing/2014/main" id="{B510BE80-F55D-490E-8D4C-E0CEB1F5749C}"/>
              </a:ext>
            </a:extLst>
          </p:cNvPr>
          <p:cNvSpPr>
            <a:spLocks noGrp="1"/>
          </p:cNvSpPr>
          <p:nvPr/>
        </p:nvSpPr>
        <p:spPr>
          <a:xfrm>
            <a:off x="17656481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">
            <a:extLst>
              <a:ext uri="{FF2B5EF4-FFF2-40B4-BE49-F238E27FC236}">
                <a16:creationId xmlns:a16="http://schemas.microsoft.com/office/drawing/2014/main" id="{1D9AEF79-0ED8-4B11-B5C1-4230ED32F0ED}"/>
              </a:ext>
            </a:extLst>
          </p:cNvPr>
          <p:cNvSpPr>
            <a:spLocks noGrp="1"/>
          </p:cNvSpPr>
          <p:nvPr/>
        </p:nvSpPr>
        <p:spPr>
          <a:xfrm>
            <a:off x="17681111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55" name="Google Shape;233;p7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p7">
            <a:extLst>
              <a:ext uri="{FF2B5EF4-FFF2-40B4-BE49-F238E27FC236}">
                <a16:creationId xmlns:a16="http://schemas.microsoft.com/office/drawing/2014/main" id="{91F0D834-E64D-4F83-A714-C189CD5562E9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6" name="Google Shape;236;p7">
            <a:extLst>
              <a:ext uri="{FF2B5EF4-FFF2-40B4-BE49-F238E27FC236}">
                <a16:creationId xmlns:a16="http://schemas.microsoft.com/office/drawing/2014/main" id="{8B094D0A-4137-4831-B6A8-26137D34788B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Google Shape;237;p7">
            <a:extLst>
              <a:ext uri="{FF2B5EF4-FFF2-40B4-BE49-F238E27FC236}">
                <a16:creationId xmlns:a16="http://schemas.microsoft.com/office/drawing/2014/main" id="{644427C3-500B-4FA6-827D-42B4B41E35A7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259" name="Google Shape;238;p7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7">
            <a:extLst>
              <a:ext uri="{FF2B5EF4-FFF2-40B4-BE49-F238E27FC236}">
                <a16:creationId xmlns:a16="http://schemas.microsoft.com/office/drawing/2014/main" id="{64F42C4E-7C9F-464F-BCC6-A0A8EE70BB15}"/>
              </a:ext>
            </a:extLst>
          </p:cNvPr>
          <p:cNvSpPr>
            <a:spLocks noGrp="1"/>
          </p:cNvSpPr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61" name="Google Shape;240;p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241" name="Rounded Rectangle 240">
            <a:extLst>
              <a:ext uri="{FF2B5EF4-FFF2-40B4-BE49-F238E27FC236}">
                <a16:creationId xmlns:a16="http://schemas.microsoft.com/office/drawing/2014/main" id="{ACF23F08-E847-4829-AC47-9BE8F28C6E3B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FEASIBILITY AND DIFFERENTIATION</a:t>
            </a:r>
          </a:p>
        </p:txBody>
      </p:sp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A694623D-FF22-4CE0-BF6B-26A7C52DA351}"/>
              </a:ext>
            </a:extLst>
          </p:cNvPr>
          <p:cNvSpPr>
            <a:spLocks noGrp="1"/>
          </p:cNvSpPr>
          <p:nvPr/>
        </p:nvSpPr>
        <p:spPr>
          <a:xfrm>
            <a:off x="1190625" y="3333750"/>
            <a:ext cx="4000500" cy="1047750"/>
          </a:xfrm>
          <a:prstGeom prst="roundRect">
            <a:avLst>
              <a:gd name="adj" fmla="val 7273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24-hour MVP</a:t>
            </a:r>
          </a:p>
        </p:txBody>
      </p:sp>
      <p:sp>
        <p:nvSpPr>
          <p:cNvPr id="243" name="Rounded Rectangle 242">
            <a:extLst>
              <a:ext uri="{FF2B5EF4-FFF2-40B4-BE49-F238E27FC236}">
                <a16:creationId xmlns:a16="http://schemas.microsoft.com/office/drawing/2014/main" id="{3890DB45-3EA1-4273-84B3-49D959D92D91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Profile • project post • rule matching • explanation • invite flow</a:t>
            </a:r>
          </a:p>
        </p:txBody>
      </p:sp>
      <p:sp>
        <p:nvSpPr>
          <p:cNvPr id="244" name="Rounded Rectangle 243">
            <a:extLst>
              <a:ext uri="{FF2B5EF4-FFF2-40B4-BE49-F238E27FC236}">
                <a16:creationId xmlns:a16="http://schemas.microsoft.com/office/drawing/2014/main" id="{6B2F735F-772D-41DC-AF61-67426B2A40A4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4000500" cy="1047750"/>
          </a:xfrm>
          <a:prstGeom prst="roundRect">
            <a:avLst>
              <a:gd name="adj" fmla="val 7273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Existing options</a:t>
            </a:r>
          </a:p>
        </p:txBody>
      </p:sp>
      <p:sp>
        <p:nvSpPr>
          <p:cNvPr id="245" name="Rounded Rectangle 244">
            <a:extLst>
              <a:ext uri="{FF2B5EF4-FFF2-40B4-BE49-F238E27FC236}">
                <a16:creationId xmlns:a16="http://schemas.microsoft.com/office/drawing/2014/main" id="{CD63C1F5-29CE-4658-A3CF-799F92E4500C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Group chats are unstructured. Professional networks do not expose campus role gaps.</a:t>
            </a:r>
          </a:p>
        </p:txBody>
      </p:sp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43188E67-60E5-4959-8346-59A57E9D3817}"/>
              </a:ext>
            </a:extLst>
          </p:cNvPr>
          <p:cNvSpPr>
            <a:spLocks noGrp="1"/>
          </p:cNvSpPr>
          <p:nvPr/>
        </p:nvSpPr>
        <p:spPr>
          <a:xfrm>
            <a:off x="13096875" y="3333750"/>
            <a:ext cx="4000500" cy="1047750"/>
          </a:xfrm>
          <a:prstGeom prst="roundRect">
            <a:avLst>
              <a:gd name="adj" fmla="val 7273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Risk controls</a:t>
            </a:r>
          </a:p>
        </p:txBody>
      </p:sp>
      <p:sp>
        <p:nvSpPr>
          <p:cNvPr id="247" name="Rounded Rectangle 246">
            <a:extLst>
              <a:ext uri="{FF2B5EF4-FFF2-40B4-BE49-F238E27FC236}">
                <a16:creationId xmlns:a16="http://schemas.microsoft.com/office/drawing/2014/main" id="{56BC2058-1012-4477-B330-430C3257F7B2}"/>
              </a:ext>
            </a:extLst>
          </p:cNvPr>
          <p:cNvSpPr>
            <a:spLocks noGrp="1"/>
          </p:cNvSpPr>
          <p:nvPr/>
        </p:nvSpPr>
        <p:spPr>
          <a:xfrm>
            <a:off x="13096875" y="457200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Consent-first GitHub import, user visibility controls, report/block flow and rule-based fallback.</a:t>
            </a:r>
          </a:p>
        </p:txBody>
      </p:sp>
      <p:sp>
        <p:nvSpPr>
          <p:cNvPr id="248" name="Rounded Rectangle 247">
            <a:extLst>
              <a:ext uri="{FF2B5EF4-FFF2-40B4-BE49-F238E27FC236}">
                <a16:creationId xmlns:a16="http://schemas.microsoft.com/office/drawing/2014/main" id="{7C41F3BA-9E76-496E-B942-4D365366A141}"/>
              </a:ext>
            </a:extLst>
          </p:cNvPr>
          <p:cNvSpPr>
            <a:spLocks noGrp="1"/>
          </p:cNvSpPr>
          <p:nvPr/>
        </p:nvSpPr>
        <p:spPr>
          <a:xfrm>
            <a:off x="1524000" y="7381875"/>
            <a:ext cx="15240000" cy="666750"/>
          </a:xfrm>
          <a:prstGeom prst="roundRect">
            <a:avLst>
              <a:gd name="adj" fmla="val 11429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Success will be measured during a pilot using time to first match, invite acceptance and team-role coverage. Prototype figures are illustrative only.</a:t>
            </a:r>
          </a:p>
        </p:txBody>
      </p:sp>
    </p:spTree>
    <p:extLst>
      <p:ext uri="{BB962C8B-B14F-4D97-AF65-F5344CB8AC3E}">
        <p14:creationId xmlns:p14="http://schemas.microsoft.com/office/powerpoint/2010/main" val="506062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45;p8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8">
            <a:extLst>
              <a:ext uri="{FF2B5EF4-FFF2-40B4-BE49-F238E27FC236}">
                <a16:creationId xmlns:a16="http://schemas.microsoft.com/office/drawing/2014/main" id="{08129542-C8D3-42DB-B5B8-91D801A05C36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cxnSp>
        <p:nvCxnSpPr>
          <p:cNvPr id="271" name="Google Shape;248;p8"/>
          <p:cNvCxnSpPr/>
          <p:nvPr/>
        </p:nvCxnSpPr>
        <p:spPr>
          <a:xfrm>
            <a:off x="11807365" y="2194520"/>
            <a:ext cx="6033505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8">
            <a:extLst>
              <a:ext uri="{FF2B5EF4-FFF2-40B4-BE49-F238E27FC236}">
                <a16:creationId xmlns:a16="http://schemas.microsoft.com/office/drawing/2014/main" id="{E3250073-29D7-4368-9154-CB5E0B33BE26}"/>
              </a:ext>
            </a:extLst>
          </p:cNvPr>
          <p:cNvSpPr>
            <a:spLocks noGrp="1"/>
          </p:cNvSpPr>
          <p:nvPr/>
        </p:nvSpPr>
        <p:spPr>
          <a:xfrm>
            <a:off x="17656481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>
            <a:extLst>
              <a:ext uri="{FF2B5EF4-FFF2-40B4-BE49-F238E27FC236}">
                <a16:creationId xmlns:a16="http://schemas.microsoft.com/office/drawing/2014/main" id="{AB2CCB6E-D49C-4D1B-B372-BD0E1A359999}"/>
              </a:ext>
            </a:extLst>
          </p:cNvPr>
          <p:cNvSpPr>
            <a:spLocks noGrp="1"/>
          </p:cNvSpPr>
          <p:nvPr/>
        </p:nvSpPr>
        <p:spPr>
          <a:xfrm>
            <a:off x="17681111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8">
            <a:extLst>
              <a:ext uri="{FF2B5EF4-FFF2-40B4-BE49-F238E27FC236}">
                <a16:creationId xmlns:a16="http://schemas.microsoft.com/office/drawing/2014/main" id="{78D3965F-CDB8-41EF-9013-5449120D4B52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1097254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5" name="Google Shape;254;p8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8">
            <a:extLst>
              <a:ext uri="{FF2B5EF4-FFF2-40B4-BE49-F238E27FC236}">
                <a16:creationId xmlns:a16="http://schemas.microsoft.com/office/drawing/2014/main" id="{6D028F2B-2EEC-410A-9BA7-2068C6EB08A5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7" name="Google Shape;257;p8">
            <a:extLst>
              <a:ext uri="{FF2B5EF4-FFF2-40B4-BE49-F238E27FC236}">
                <a16:creationId xmlns:a16="http://schemas.microsoft.com/office/drawing/2014/main" id="{2BE2AF57-1A65-4869-8C65-FCFB9F841C96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8">
            <a:extLst>
              <a:ext uri="{FF2B5EF4-FFF2-40B4-BE49-F238E27FC236}">
                <a16:creationId xmlns:a16="http://schemas.microsoft.com/office/drawing/2014/main" id="{1AD260E1-F2E5-4002-891A-149DAF003DB6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279" name="Google Shape;259;p8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8">
            <a:extLst>
              <a:ext uri="{FF2B5EF4-FFF2-40B4-BE49-F238E27FC236}">
                <a16:creationId xmlns:a16="http://schemas.microsoft.com/office/drawing/2014/main" id="{B0B1CA49-398F-4627-83EF-465DBED0C8A7}"/>
              </a:ext>
            </a:extLst>
          </p:cNvPr>
          <p:cNvSpPr>
            <a:spLocks noGrp="1"/>
          </p:cNvSpPr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81" name="Google Shape;261;p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262" name="Rounded Rectangle 261">
            <a:extLst>
              <a:ext uri="{FF2B5EF4-FFF2-40B4-BE49-F238E27FC236}">
                <a16:creationId xmlns:a16="http://schemas.microsoft.com/office/drawing/2014/main" id="{B4F7DFCE-EA57-4A16-8A8C-D05E39A6955D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DEMO AND REFERENCES</a:t>
            </a:r>
          </a:p>
        </p:txBody>
      </p: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AB5143CD-EBA4-496F-801A-3F206C7AF786}"/>
              </a:ext>
            </a:extLst>
          </p:cNvPr>
          <p:cNvSpPr>
            <a:spLocks noGrp="1"/>
          </p:cNvSpPr>
          <p:nvPr/>
        </p:nvSpPr>
        <p:spPr>
          <a:xfrm>
            <a:off x="1333500" y="323850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Demo scenario</a:t>
            </a: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215B0F64-453E-4155-A043-39093AD2A162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Aanya adds React, healthcare interest and weekend availability. Rahul posts MedQueue with a frontend opening. SkillBridge returns an illustrative match with clear reasons.</a:t>
            </a: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4F588B16-91F0-44F6-879C-3CAB77DD9465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Prototype links</a:t>
            </a:r>
          </a:p>
        </p:txBody>
      </p:sp>
      <p:sp>
        <p:nvSpPr>
          <p:cNvPr id="266" name="Rounded Rectangle 265">
            <a:extLst>
              <a:ext uri="{FF2B5EF4-FFF2-40B4-BE49-F238E27FC236}">
                <a16:creationId xmlns:a16="http://schemas.microsoft.com/office/drawing/2014/main" id="{D3B8F0D4-37CC-423C-8813-4B201B6D647C}"/>
              </a:ext>
            </a:extLst>
          </p:cNvPr>
          <p:cNvSpPr>
            <a:spLocks noGrp="1"/>
          </p:cNvSpPr>
          <p:nvPr/>
        </p:nvSpPr>
        <p:spPr>
          <a:xfrm>
            <a:off x="7048500" y="4381500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GitHub repository: [add URL]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Live demo: [add URL]</a:t>
            </a:r>
          </a:p>
          <a:p>
            <a:pPr>
              <a:def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Demo video: [add URL]</a:t>
            </a:r>
          </a:p>
        </p:txBody>
      </p:sp>
      <p:sp>
        <p:nvSpPr>
          <p:cNvPr id="267" name="Rounded Rectangle 266">
            <a:extLst>
              <a:ext uri="{FF2B5EF4-FFF2-40B4-BE49-F238E27FC236}">
                <a16:creationId xmlns:a16="http://schemas.microsoft.com/office/drawing/2014/main" id="{7C531E8C-EC72-41AB-9104-F51E9D59FA89}"/>
              </a:ext>
            </a:extLst>
          </p:cNvPr>
          <p:cNvSpPr>
            <a:spLocks noGrp="1"/>
          </p:cNvSpPr>
          <p:nvPr/>
        </p:nvSpPr>
        <p:spPr>
          <a:xfrm>
            <a:off x="12763500" y="323850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3EA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References</a:t>
            </a:r>
          </a:p>
        </p:txBody>
      </p:sp>
      <p:sp>
        <p:nvSpPr>
          <p:cNvPr id="268" name="Rounded Rectangle 267">
            <a:extLst>
              <a:ext uri="{FF2B5EF4-FFF2-40B4-BE49-F238E27FC236}">
                <a16:creationId xmlns:a16="http://schemas.microsoft.com/office/drawing/2014/main" id="{7124745F-3FB1-48B7-8741-685C08C06F17}"/>
              </a:ext>
            </a:extLst>
          </p:cNvPr>
          <p:cNvSpPr>
            <a:spLocks noGrp="1"/>
          </p:cNvSpPr>
          <p:nvPr/>
        </p:nvSpPr>
        <p:spPr>
          <a:xfrm>
            <a:off x="12763500" y="4381500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Build With Bharat 4.0 rulebook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React / Next.js documentation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PostgreSQL documentation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GitHub OAuth documentation</a:t>
            </a:r>
          </a:p>
          <a:p>
            <a:pPr>
              <a:def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A2A2A"/>
                </a:solidFill>
                <a:latin typeface="Montserrat"/>
                <a:ea typeface="Montserrat"/>
                <a:cs typeface="Montserrat"/>
              </a:rPr>
              <a:t>[Add any survey or interview source]</a:t>
            </a:r>
          </a:p>
        </p:txBody>
      </p:sp>
    </p:spTree>
    <p:extLst>
      <p:ext uri="{BB962C8B-B14F-4D97-AF65-F5344CB8AC3E}">
        <p14:creationId xmlns:p14="http://schemas.microsoft.com/office/powerpoint/2010/main" val="1971177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>
            <a:extLst>
              <a:ext uri="{FF2B5EF4-FFF2-40B4-BE49-F238E27FC236}">
                <a16:creationId xmlns:a16="http://schemas.microsoft.com/office/drawing/2014/main" id="{2CE94581-D6AF-466B-AA16-3F064CAEAACC}"/>
              </a:ext>
            </a:extLst>
          </p:cNvPr>
          <p:cNvSpPr>
            <a:spLocks noGrp="1"/>
          </p:cNvSpPr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267" name="Google Shape;267;p9">
            <a:extLst>
              <a:ext uri="{FF2B5EF4-FFF2-40B4-BE49-F238E27FC236}">
                <a16:creationId xmlns:a16="http://schemas.microsoft.com/office/drawing/2014/main" id="{5780B6E2-934D-45F7-ADC6-27014C89777D}"/>
              </a:ext>
            </a:extLst>
          </p:cNvPr>
          <p:cNvSpPr>
            <a:spLocks noGrp="1"/>
          </p:cNvSpPr>
          <p:nvPr/>
        </p:nvSpPr>
        <p:spPr>
          <a:xfrm>
            <a:off x="834817" y="1703982"/>
            <a:ext cx="5392141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8" name="Google Shape;268;p9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ln w="1905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9" name="Google Shape;270;p9"/>
          <p:cNvCxnSpPr/>
          <p:nvPr/>
        </p:nvCxnSpPr>
        <p:spPr>
          <a:xfrm>
            <a:off x="6226957" y="2194520"/>
            <a:ext cx="11613913" cy="0"/>
          </a:xfrm>
          <a:prstGeom prst="straightConnector1">
            <a:avLst/>
          </a:prstGeom>
          <a:ln w="114300" cap="rnd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9">
            <a:extLst>
              <a:ext uri="{FF2B5EF4-FFF2-40B4-BE49-F238E27FC236}">
                <a16:creationId xmlns:a16="http://schemas.microsoft.com/office/drawing/2014/main" id="{E89C039A-6F35-4ACA-995F-00E49668168F}"/>
              </a:ext>
            </a:extLst>
          </p:cNvPr>
          <p:cNvSpPr>
            <a:spLocks noGrp="1"/>
          </p:cNvSpPr>
          <p:nvPr/>
        </p:nvSpPr>
        <p:spPr>
          <a:xfrm>
            <a:off x="17656481" y="2063156"/>
            <a:ext cx="262728" cy="2627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1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">
            <a:extLst>
              <a:ext uri="{FF2B5EF4-FFF2-40B4-BE49-F238E27FC236}">
                <a16:creationId xmlns:a16="http://schemas.microsoft.com/office/drawing/2014/main" id="{8909DE56-BBAD-44A5-8B38-D1DF0E860988}"/>
              </a:ext>
            </a:extLst>
          </p:cNvPr>
          <p:cNvSpPr>
            <a:spLocks noGrp="1"/>
          </p:cNvSpPr>
          <p:nvPr/>
        </p:nvSpPr>
        <p:spPr>
          <a:xfrm>
            <a:off x="17681111" y="2075471"/>
            <a:ext cx="213466" cy="2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9">
            <a:extLst>
              <a:ext uri="{FF2B5EF4-FFF2-40B4-BE49-F238E27FC236}">
                <a16:creationId xmlns:a16="http://schemas.microsoft.com/office/drawing/2014/main" id="{2FFCEF86-05F2-42CF-9584-1313E51E318C}"/>
              </a:ext>
            </a:extLst>
          </p:cNvPr>
          <p:cNvSpPr>
            <a:spLocks noGrp="1"/>
          </p:cNvSpPr>
          <p:nvPr/>
        </p:nvSpPr>
        <p:spPr>
          <a:xfrm>
            <a:off x="542379" y="3047676"/>
            <a:ext cx="18579000" cy="7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3" name="Google Shape;276;p9"/>
          <p:cNvCxnSpPr/>
          <p:nvPr/>
        </p:nvCxnSpPr>
        <p:spPr>
          <a:xfrm>
            <a:off x="10855980" y="9909534"/>
            <a:ext cx="6800501" cy="0"/>
          </a:xfrm>
          <a:prstGeom prst="straightConnector1">
            <a:avLst/>
          </a:prstGeom>
          <a:ln w="127000" cap="flat">
            <a:solidFill>
              <a:srgbClr val="1576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9">
            <a:extLst>
              <a:ext uri="{FF2B5EF4-FFF2-40B4-BE49-F238E27FC236}">
                <a16:creationId xmlns:a16="http://schemas.microsoft.com/office/drawing/2014/main" id="{B2819664-5E01-4A02-B046-569620FF386B}"/>
              </a:ext>
            </a:extLst>
          </p:cNvPr>
          <p:cNvSpPr>
            <a:spLocks noGrp="1"/>
          </p:cNvSpPr>
          <p:nvPr/>
        </p:nvSpPr>
        <p:spPr>
          <a:xfrm>
            <a:off x="7191336" y="9711392"/>
            <a:ext cx="3647249" cy="396284"/>
          </a:xfrm>
          <a:custGeom>
            <a:avLst/>
            <a:gdLst/>
            <a:ahLst/>
            <a:cxnLst/>
            <a:rect l="l" t="t" r="r" b="b"/>
            <a:pathLst>
              <a:path w="960592" h="104371">
                <a:moveTo>
                  <a:pt x="0" y="0"/>
                </a:moveTo>
                <a:lnTo>
                  <a:pt x="960592" y="0"/>
                </a:lnTo>
                <a:lnTo>
                  <a:pt x="960592" y="104371"/>
                </a:lnTo>
                <a:lnTo>
                  <a:pt x="0" y="1043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9" name="Google Shape;279;p9">
            <a:extLst>
              <a:ext uri="{FF2B5EF4-FFF2-40B4-BE49-F238E27FC236}">
                <a16:creationId xmlns:a16="http://schemas.microsoft.com/office/drawing/2014/main" id="{0FC25E61-6D76-4DEC-9A37-9090AFA6022C}"/>
              </a:ext>
            </a:extLst>
          </p:cNvPr>
          <p:cNvSpPr>
            <a:spLocks noGrp="1"/>
          </p:cNvSpPr>
          <p:nvPr/>
        </p:nvSpPr>
        <p:spPr>
          <a:xfrm>
            <a:off x="7191336" y="9566731"/>
            <a:ext cx="3647249" cy="5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>
            <a:noAutofit/>
          </a:bodyPr>
          <a:lstStyle/>
          <a:p>
            <a:pPr marL="0" marR="0" lvl="0" indent="0" algn="ctr">
              <a:lnSpc>
                <a:spcPct val="122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7C9CBF52-46D4-453E-989E-C311718BA2F5}"/>
              </a:ext>
            </a:extLst>
          </p:cNvPr>
          <p:cNvSpPr>
            <a:spLocks noGrp="1"/>
          </p:cNvSpPr>
          <p:nvPr/>
        </p:nvSpPr>
        <p:spPr>
          <a:xfrm>
            <a:off x="7307122" y="9738118"/>
            <a:ext cx="3531462" cy="31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7" b="1" i="0" u="non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BUILD WITH </a:t>
            </a:r>
            <a:r>
              <a:rPr sz="1877" b="1" i="0" u="none" cap="none">
                <a:solidFill>
                  <a:srgbClr val="FF5C1F"/>
                </a:solidFill>
                <a:latin typeface="Montserrat"/>
                <a:ea typeface="Montserrat"/>
                <a:cs typeface="Montserrat"/>
              </a:rPr>
              <a:t>भारत4.0</a:t>
            </a:r>
            <a:endParaRPr/>
          </a:p>
        </p:txBody>
      </p:sp>
      <p:cxnSp>
        <p:nvCxnSpPr>
          <p:cNvPr id="297" name="Google Shape;281;p9"/>
          <p:cNvCxnSpPr/>
          <p:nvPr/>
        </p:nvCxnSpPr>
        <p:spPr>
          <a:xfrm>
            <a:off x="557530" y="9909534"/>
            <a:ext cx="6633806" cy="0"/>
          </a:xfrm>
          <a:prstGeom prst="straightConnector1">
            <a:avLst/>
          </a:prstGeom>
          <a:ln w="127000" cap="flat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E19AC6D8-043E-40DF-B251-2367474904E0}"/>
              </a:ext>
            </a:extLst>
          </p:cNvPr>
          <p:cNvSpPr>
            <a:spLocks noGrp="1"/>
          </p:cNvSpPr>
          <p:nvPr/>
        </p:nvSpPr>
        <p:spPr>
          <a:xfrm>
            <a:off x="9596214" y="2237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99" name="Google Shape;283;p9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0138" y="235778"/>
            <a:ext cx="1393754" cy="1672504"/>
          </a:xfrm>
          <a:prstGeom prst="rect">
            <a:avLst/>
          </a:prstGeom>
          <a:ln>
            <a:noFill/>
          </a:ln>
        </p:spPr>
      </p:pic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4E63CCC3-6F00-407D-8A7A-5464955A210E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716250" cy="1143000"/>
          </a:xfrm>
          <a:prstGeom prst="roundRect">
            <a:avLst>
              <a:gd name="adj" fmla="val 6667"/>
            </a:avLst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THANK YOU</a:t>
            </a:r>
          </a:p>
        </p:txBody>
      </p:sp>
      <p:sp>
        <p:nvSpPr>
          <p:cNvPr id="285" name="Rounded Rectangle 284">
            <a:extLst>
              <a:ext uri="{FF2B5EF4-FFF2-40B4-BE49-F238E27FC236}">
                <a16:creationId xmlns:a16="http://schemas.microsoft.com/office/drawing/2014/main" id="{C0EAE848-51BF-48DE-ADB7-736B89F83DD3}"/>
              </a:ext>
            </a:extLst>
          </p:cNvPr>
          <p:cNvSpPr>
            <a:spLocks noGrp="1"/>
          </p:cNvSpPr>
          <p:nvPr/>
        </p:nvSpPr>
        <p:spPr>
          <a:xfrm>
            <a:off x="2381250" y="3810000"/>
            <a:ext cx="13335000" cy="3143250"/>
          </a:xfrm>
          <a:prstGeom prst="roundRect">
            <a:avLst>
              <a:gd name="adj" fmla="val 2424"/>
            </a:avLst>
          </a:prstGeom>
          <a:solidFill>
            <a:srgbClr val="FFF8F2"/>
          </a:solidFill>
          <a:ln w="14288">
            <a:solidFill>
              <a:srgbClr val="E45F2B"/>
            </a:solidFill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SkillBridge helps students find the right project, teammate and mentor with clear, explainable recommendations.</a:t>
            </a:r>
          </a:p>
          <a:p>
            <a:endParaRPr sz="2250" b="1">
              <a:solidFill>
                <a:srgbClr val="4B2514"/>
              </a:solidFill>
              <a:latin typeface="Montserrat"/>
              <a:ea typeface="Montserrat"/>
              <a:cs typeface="Montserrat"/>
            </a:endParaRPr>
          </a:p>
          <a:p>
            <a:pPr>
              <a:defRPr sz="225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[Add QR code to prototype]</a:t>
            </a:r>
          </a:p>
          <a:p>
            <a:endParaRPr sz="2250" b="1">
              <a:solidFill>
                <a:srgbClr val="4B2514"/>
              </a:solidFill>
              <a:latin typeface="Montserrat"/>
              <a:ea typeface="Montserrat"/>
              <a:cs typeface="Montserrat"/>
            </a:endParaRPr>
          </a:p>
          <a:p>
            <a:pPr>
              <a:defRPr sz="2250" b="1">
                <a:solidFill>
                  <a:srgbClr val="4B2514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B2514"/>
                </a:solidFill>
                <a:latin typeface="Montserrat"/>
                <a:ea typeface="Montserrat"/>
                <a:cs typeface="Montserrat"/>
              </a:rPr>
              <a:t>[Team Name]  •  [College]  •  [Contact]</a:t>
            </a:r>
          </a:p>
        </p:txBody>
      </p:sp>
    </p:spTree>
    <p:extLst>
      <p:ext uri="{BB962C8B-B14F-4D97-AF65-F5344CB8AC3E}">
        <p14:creationId xmlns:p14="http://schemas.microsoft.com/office/powerpoint/2010/main" val="40496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Macintosh PowerPoint</Application>
  <DocSecurity>0</DocSecurity>
  <PresentationFormat>Custom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Montserrat SemiBold</vt:lpstr>
      <vt:lpstr>Calibri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Utkarsh Singh</cp:lastModifiedBy>
  <cp:revision>1</cp:revision>
  <dcterms:created xsi:type="dcterms:W3CDTF">2026-09-30T12:39:36Z</dcterms:created>
  <dcterms:modified xsi:type="dcterms:W3CDTF">2026-09-30T12:41:20Z</dcterms:modified>
</cp:coreProperties>
</file>